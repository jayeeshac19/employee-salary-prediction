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71" r:id="rId5"/>
    <p:sldId id="288" r:id="rId6"/>
    <p:sldId id="273" r:id="rId7"/>
    <p:sldId id="275" r:id="rId8"/>
    <p:sldId id="277" r:id="rId9"/>
    <p:sldId id="278" r:id="rId10"/>
    <p:sldId id="291" r:id="rId11"/>
    <p:sldId id="276" r:id="rId12"/>
    <p:sldId id="279" r:id="rId13"/>
    <p:sldId id="280" r:id="rId14"/>
    <p:sldId id="286" r:id="rId15"/>
    <p:sldId id="264" r:id="rId16"/>
    <p:sldId id="265" r:id="rId17"/>
    <p:sldId id="281" r:id="rId18"/>
    <p:sldId id="282" r:id="rId19"/>
    <p:sldId id="283" r:id="rId20"/>
    <p:sldId id="284" r:id="rId21"/>
    <p:sldId id="287" r:id="rId22"/>
    <p:sldId id="269" r:id="rId23"/>
    <p:sldId id="270" r:id="rId24"/>
    <p:sldId id="285" r:id="rId25"/>
    <p:sldId id="29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3B943-683B-4561-93ED-47414F661FFD}" v="71" dt="2025-01-12T06:14:04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F10DD-8536-4E58-A71D-80E4E9B12CFA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35954-53B1-4079-B266-6FA0072E96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803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35954-53B1-4079-B266-6FA0072E964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213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93C8-A933-9719-E52D-C2C15BBC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FDD99-693F-0D0C-4305-9451FBEFF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14B0C8-998B-56B3-19E1-3A0B693A0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19496-613A-D56C-9253-E2A09612E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35954-53B1-4079-B266-6FA0072E964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81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78483-3A3E-16A7-C195-9C605F833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CFBCC-39C9-78BA-EEDD-8F7C72D99C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0F3FD-E3C2-030F-9514-34C802DF7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5D5DF-B8ED-DB23-188C-849FA953E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35954-53B1-4079-B266-6FA0072E964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461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6708-4644-43CB-BD1D-2BCD7BB6CC04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71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73317-2015-4A81-A9C2-F2D76CC2D1DC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51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D0155-734D-48DE-941C-F4286E78E487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17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943FA-DC75-44A5-A933-B9633BDEAF4B}" type="datetime1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8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67F78-9F5D-43B5-9DB1-14AB9418401A}" type="datetime1">
              <a:rPr lang="en-US" smtClean="0"/>
              <a:t>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9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1A6FE-8756-46F6-A6CD-6C8AECB42F07}" type="datetime1">
              <a:rPr lang="en-US" smtClean="0"/>
              <a:t>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79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40A69-26F5-4B80-B3C0-9E3BA1F267F9}" type="datetime1">
              <a:rPr lang="en-US" smtClean="0"/>
              <a:t>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21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B67F-6472-4CB7-92A1-B429FF6B8FCE}" type="datetime1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0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07410-C07C-4C57-B543-983D5141B15B}" type="datetime1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7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4C6ED-AE6C-478C-AE94-ECA115285880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22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8375D-F846-43C4-A89B-085BA2FE8ABA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4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410A1-8B64-49E7-B8F9-A9FC958EB60F}" type="datetime1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F7EC7-A133-4997-9208-39AE0FFB8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160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inkedin.com/in/jayeesha-chakraborty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oup of people in a room with a person giving thumbs up">
            <a:extLst>
              <a:ext uri="{FF2B5EF4-FFF2-40B4-BE49-F238E27FC236}">
                <a16:creationId xmlns:a16="http://schemas.microsoft.com/office/drawing/2014/main" id="{9AE6712C-9278-E709-5C3E-40B25481E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27" r="9089" b="9050"/>
          <a:stretch/>
        </p:blipFill>
        <p:spPr>
          <a:xfrm>
            <a:off x="3574021" y="-1645298"/>
            <a:ext cx="10633537" cy="850329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47AB2-7B04-AAAD-28D6-36EA93F32CD2}"/>
              </a:ext>
            </a:extLst>
          </p:cNvPr>
          <p:cNvSpPr txBox="1"/>
          <p:nvPr/>
        </p:nvSpPr>
        <p:spPr>
          <a:xfrm>
            <a:off x="477980" y="1122363"/>
            <a:ext cx="4715811" cy="17880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Fair Compensation Prediction Model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8B86D-1F7D-ECE9-AD66-CBA3C5D74A36}"/>
              </a:ext>
            </a:extLst>
          </p:cNvPr>
          <p:cNvSpPr txBox="1"/>
          <p:nvPr/>
        </p:nvSpPr>
        <p:spPr>
          <a:xfrm>
            <a:off x="477980" y="3429000"/>
            <a:ext cx="4023359" cy="8150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Leveraging Data-Driven Insights to Boost Fairness and Engagement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3D2ED-BDD0-A768-B770-0BC9DEB41FB3}"/>
              </a:ext>
            </a:extLst>
          </p:cNvPr>
          <p:cNvSpPr txBox="1"/>
          <p:nvPr/>
        </p:nvSpPr>
        <p:spPr>
          <a:xfrm>
            <a:off x="0" y="6268893"/>
            <a:ext cx="4501339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Jayeesha Chakraborty, 10</a:t>
            </a:r>
            <a:r>
              <a:rPr lang="en-US" sz="1100" baseline="30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Jan 25</a:t>
            </a:r>
          </a:p>
          <a:p>
            <a:pPr>
              <a:spcAft>
                <a:spcPts val="600"/>
              </a:spcAft>
            </a:pPr>
            <a:r>
              <a:rPr lang="en-IN" sz="11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Linkedin</a:t>
            </a:r>
            <a:r>
              <a:rPr lang="en-IN" sz="11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N" sz="1100" b="0" i="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www.linkedin.com/in/jayeesha-chakraborty</a:t>
            </a:r>
            <a:endParaRPr lang="en-IN" sz="11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endParaRPr lang="en-IN" sz="11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43A8B2-56BE-36E7-E544-A6923DE4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1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95BA-0297-58C6-2217-F19329D9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341"/>
            <a:ext cx="1905000" cy="745427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62B-E258-CF5F-3714-4D20A7996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 Introduction &amp; Context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 Recent Progress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 Goals &amp;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 Data Exploration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 Model Development &amp;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 Key Takeaways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 Business Recommendations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13009-A170-F0FA-A31D-3ABC0FF0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8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947AB2-7B04-AAAD-28D6-36EA93F32CD2}"/>
              </a:ext>
            </a:extLst>
          </p:cNvPr>
          <p:cNvSpPr txBox="1"/>
          <p:nvPr/>
        </p:nvSpPr>
        <p:spPr>
          <a:xfrm>
            <a:off x="876693" y="741392"/>
            <a:ext cx="5281018" cy="9083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Cost of Unequal Pay: Beyond Numbers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67052-5271-F37E-2AEE-36199D23182E}"/>
              </a:ext>
            </a:extLst>
          </p:cNvPr>
          <p:cNvSpPr txBox="1"/>
          <p:nvPr/>
        </p:nvSpPr>
        <p:spPr>
          <a:xfrm>
            <a:off x="876693" y="2098395"/>
            <a:ext cx="4527687" cy="38829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disengagement → Increased attrition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 business costs due to turnover and lost productivity</a:t>
            </a:r>
          </a:p>
        </p:txBody>
      </p:sp>
      <p:pic>
        <p:nvPicPr>
          <p:cNvPr id="6" name="Picture 5" descr="A person and person with numbers and symbols&#10;&#10;Description automatically generated">
            <a:extLst>
              <a:ext uri="{FF2B5EF4-FFF2-40B4-BE49-F238E27FC236}">
                <a16:creationId xmlns:a16="http://schemas.microsoft.com/office/drawing/2014/main" id="{B5D5073D-ADBD-BC47-44CB-D3A6210CC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98395"/>
            <a:ext cx="5281018" cy="33798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B82068-1FB9-8644-317A-4C9E87F1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ECFF7EC7-A133-4997-9208-39AE0FFB8536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defTabSz="914400"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775D6C7-8B42-6F7F-A9C4-9A68DD50543B}"/>
              </a:ext>
            </a:extLst>
          </p:cNvPr>
          <p:cNvSpPr txBox="1"/>
          <p:nvPr/>
        </p:nvSpPr>
        <p:spPr>
          <a:xfrm>
            <a:off x="-229106" y="6356350"/>
            <a:ext cx="3450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https://www.gov.uk/</a:t>
            </a:r>
          </a:p>
        </p:txBody>
      </p:sp>
    </p:spTree>
    <p:extLst>
      <p:ext uri="{BB962C8B-B14F-4D97-AF65-F5344CB8AC3E}">
        <p14:creationId xmlns:p14="http://schemas.microsoft.com/office/powerpoint/2010/main" val="282001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business diagram&#10;&#10;Description automatically generated with medium confidence">
            <a:extLst>
              <a:ext uri="{FF2B5EF4-FFF2-40B4-BE49-F238E27FC236}">
                <a16:creationId xmlns:a16="http://schemas.microsoft.com/office/drawing/2014/main" id="{55035DB2-528F-00F7-1AD9-50A29613D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685" r="9090" b="8402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67988A-0B66-7487-BD52-C6E76F7C4BF5}"/>
              </a:ext>
            </a:extLst>
          </p:cNvPr>
          <p:cNvSpPr txBox="1"/>
          <p:nvPr/>
        </p:nvSpPr>
        <p:spPr>
          <a:xfrm>
            <a:off x="371093" y="685801"/>
            <a:ext cx="7026403" cy="12527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Revolutionizing Compensation: The Scope of Predictive Analytics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66204-E121-679A-3CE9-59D7BF95258E}"/>
              </a:ext>
            </a:extLst>
          </p:cNvPr>
          <p:cNvSpPr txBox="1"/>
          <p:nvPr/>
        </p:nvSpPr>
        <p:spPr>
          <a:xfrm>
            <a:off x="371094" y="2443480"/>
            <a:ext cx="6377178" cy="34818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Compensation Optimization: 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$100M saved by addressing disparities.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Retention Analytics: 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	Reduced Retention bonus by $20M 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Halved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attrition with training and recognition strategies.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Mentorship Insights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	Cut “flight risk” by 40% with coaching programs.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Broader Applications: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1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Talent acquisition, diversity, and skill developmen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E12D6F-C36B-35B8-B14C-B4BD3B1D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0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947AB2-7B04-AAAD-28D6-36EA93F32CD2}"/>
              </a:ext>
            </a:extLst>
          </p:cNvPr>
          <p:cNvSpPr txBox="1"/>
          <p:nvPr/>
        </p:nvSpPr>
        <p:spPr>
          <a:xfrm>
            <a:off x="677119" y="810623"/>
            <a:ext cx="4894428" cy="6707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Goals &amp;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306AF-E732-EF77-FC59-D928CFBE97A5}"/>
              </a:ext>
            </a:extLst>
          </p:cNvPr>
          <p:cNvSpPr txBox="1"/>
          <p:nvPr/>
        </p:nvSpPr>
        <p:spPr>
          <a:xfrm>
            <a:off x="539328" y="2075688"/>
            <a:ext cx="50322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Key factors to compensation based on past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 a model for fair compensation</a:t>
            </a:r>
          </a:p>
          <a:p>
            <a:endParaRPr lang="en-US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Eliminate manual bias</a:t>
            </a:r>
          </a:p>
          <a:p>
            <a:endParaRPr lang="en-IN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Foster employee trust and equity</a:t>
            </a:r>
          </a:p>
          <a:p>
            <a:endParaRPr lang="en-IN" sz="20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sustainable business practices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982B8-1EED-C319-047F-8C235FC6B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F3CC57-2572-DC70-3DD5-53A836C093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75" t="2638" r="27009" b="1990"/>
          <a:stretch/>
        </p:blipFill>
        <p:spPr>
          <a:xfrm>
            <a:off x="7290816" y="233750"/>
            <a:ext cx="3562350" cy="61001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345CB7-2657-7A27-5E17-FA1997F7D886}"/>
              </a:ext>
            </a:extLst>
          </p:cNvPr>
          <p:cNvSpPr txBox="1"/>
          <p:nvPr/>
        </p:nvSpPr>
        <p:spPr>
          <a:xfrm>
            <a:off x="7686675" y="6389172"/>
            <a:ext cx="2971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Employee Salary Prediction</a:t>
            </a:r>
          </a:p>
        </p:txBody>
      </p:sp>
    </p:spTree>
    <p:extLst>
      <p:ext uri="{BB962C8B-B14F-4D97-AF65-F5344CB8AC3E}">
        <p14:creationId xmlns:p14="http://schemas.microsoft.com/office/powerpoint/2010/main" val="1712578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813F7-8039-97AC-830D-5A977B2B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7C7E6-ACD9-FF10-588E-27354B0AB0BF}"/>
              </a:ext>
            </a:extLst>
          </p:cNvPr>
          <p:cNvSpPr txBox="1"/>
          <p:nvPr/>
        </p:nvSpPr>
        <p:spPr>
          <a:xfrm>
            <a:off x="629640" y="649224"/>
            <a:ext cx="10347490" cy="10453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Insights : Role vs CTC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D13903F-32C2-3BDD-F214-24A15E62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6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898F8FF-13D6-E63A-8F3F-7E3C1F7C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1499298"/>
            <a:ext cx="8805672" cy="4269592"/>
          </a:xfrm>
          <a:prstGeom prst="rect">
            <a:avLst/>
          </a:prstGeom>
          <a:ln w="635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3D860ED-2BF9-F581-6D0B-CCD628508AA1}"/>
              </a:ext>
            </a:extLst>
          </p:cNvPr>
          <p:cNvSpPr txBox="1"/>
          <p:nvPr/>
        </p:nvSpPr>
        <p:spPr>
          <a:xfrm>
            <a:off x="4431785" y="5901742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Fig:  Role vs CTC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32BD72-8C08-025E-AC52-C549E6D47C34}"/>
              </a:ext>
            </a:extLst>
          </p:cNvPr>
          <p:cNvSpPr/>
          <p:nvPr/>
        </p:nvSpPr>
        <p:spPr>
          <a:xfrm>
            <a:off x="0" y="3003804"/>
            <a:ext cx="12192000" cy="8503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Senior roles average a salary of ₹3M, significantly outpacing freshers' average salary of ₹0.8M.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1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28FB-3F78-8709-C209-C5D799172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50702-D850-5F90-2E28-85E62CFB9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28" y="548640"/>
            <a:ext cx="10515600" cy="850392"/>
          </a:xfrm>
        </p:spPr>
        <p:txBody>
          <a:bodyPr>
            <a:normAutofit/>
          </a:bodyPr>
          <a:lstStyle/>
          <a:p>
            <a:r>
              <a:rPr lang="en-US" sz="40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Insights : Location Preference vs CTC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FF17B-ACD6-8F1E-9D18-5711FFD2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A6232-98B7-A001-520F-D9A105522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44" y="1683675"/>
            <a:ext cx="8201688" cy="4424517"/>
          </a:xfrm>
          <a:prstGeom prst="rect">
            <a:avLst/>
          </a:prstGeom>
          <a:ln w="635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069D7C-8C85-670C-3497-BFF12FDE2E26}"/>
              </a:ext>
            </a:extLst>
          </p:cNvPr>
          <p:cNvSpPr txBox="1"/>
          <p:nvPr/>
        </p:nvSpPr>
        <p:spPr>
          <a:xfrm>
            <a:off x="2699766" y="6124694"/>
            <a:ext cx="6094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Fig:  Location Preference vs CTC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9994A7-C130-84AC-C6DD-E139D145C7E5}"/>
              </a:ext>
            </a:extLst>
          </p:cNvPr>
          <p:cNvSpPr/>
          <p:nvPr/>
        </p:nvSpPr>
        <p:spPr>
          <a:xfrm>
            <a:off x="0" y="3003804"/>
            <a:ext cx="12192000" cy="8503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Applicants are evenly distributed across all locations, with a consistent salary structure observed.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818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947AB2-7B04-AAAD-28D6-36EA93F32CD2}"/>
              </a:ext>
            </a:extLst>
          </p:cNvPr>
          <p:cNvSpPr txBox="1"/>
          <p:nvPr/>
        </p:nvSpPr>
        <p:spPr>
          <a:xfrm>
            <a:off x="783843" y="786385"/>
            <a:ext cx="9474581" cy="63093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Insights : Experience vs CTC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EAD20CD-91CF-3BDE-2E93-7A9CE58C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8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E621345-F81C-AA70-0E32-03CB3096D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188" y="1824857"/>
            <a:ext cx="7786529" cy="4123956"/>
          </a:xfrm>
          <a:prstGeom prst="rect">
            <a:avLst/>
          </a:prstGeom>
          <a:ln w="635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D6D792A8-BB7B-EA36-FFFF-07DA47FB3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717" y="3757757"/>
            <a:ext cx="1438476" cy="219105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1BAD114-5138-41F7-57A2-E32FD47D4C78}"/>
              </a:ext>
            </a:extLst>
          </p:cNvPr>
          <p:cNvSpPr txBox="1"/>
          <p:nvPr/>
        </p:nvSpPr>
        <p:spPr>
          <a:xfrm>
            <a:off x="4992624" y="6014082"/>
            <a:ext cx="2578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Fig: Experience vs CTC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7C3A90-A7E5-EA44-4113-6F469EF6831A}"/>
              </a:ext>
            </a:extLst>
          </p:cNvPr>
          <p:cNvSpPr/>
          <p:nvPr/>
        </p:nvSpPr>
        <p:spPr>
          <a:xfrm>
            <a:off x="0" y="3003804"/>
            <a:ext cx="12192000" cy="8503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Applicants' experience accounts for over 60% of the variability in expected compensation across industries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00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60FED-B0F3-40BD-CE04-75C9C13A7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F3E7DA-4809-A5B1-9187-CF685221C70D}"/>
              </a:ext>
            </a:extLst>
          </p:cNvPr>
          <p:cNvSpPr txBox="1"/>
          <p:nvPr/>
        </p:nvSpPr>
        <p:spPr>
          <a:xfrm>
            <a:off x="629639" y="649225"/>
            <a:ext cx="12510289" cy="108830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Insights : No of Companied Worked </a:t>
            </a:r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Vs </a:t>
            </a: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CTC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43AA33-D1FA-7BC7-07F7-29AC6DA5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9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42F534-8E69-9E25-B662-E0ACBC19B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136" y="1654694"/>
            <a:ext cx="7721728" cy="4263983"/>
          </a:xfrm>
          <a:prstGeom prst="rect">
            <a:avLst/>
          </a:prstGeom>
          <a:ln w="635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32963A6-C0D6-BE64-D75F-D203D4224ED0}"/>
              </a:ext>
            </a:extLst>
          </p:cNvPr>
          <p:cNvSpPr txBox="1"/>
          <p:nvPr/>
        </p:nvSpPr>
        <p:spPr>
          <a:xfrm>
            <a:off x="4727448" y="6014082"/>
            <a:ext cx="3008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Fig: No of Companies Worked vs CTC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ADF5EA-5C7C-AB17-C751-83252EEDF63E}"/>
              </a:ext>
            </a:extLst>
          </p:cNvPr>
          <p:cNvSpPr/>
          <p:nvPr/>
        </p:nvSpPr>
        <p:spPr>
          <a:xfrm>
            <a:off x="0" y="3003804"/>
            <a:ext cx="12192000" cy="8503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Moderate career stability (2–5 companies) correlates with better compensation.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5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4E829-9C50-2935-BE81-003A67C4D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480D5D-4EDE-838B-ED99-D50525D8CAD5}"/>
              </a:ext>
            </a:extLst>
          </p:cNvPr>
          <p:cNvSpPr txBox="1"/>
          <p:nvPr/>
        </p:nvSpPr>
        <p:spPr>
          <a:xfrm>
            <a:off x="629639" y="676657"/>
            <a:ext cx="10628911" cy="6126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Insights : Last Appraisal vs CTC </a:t>
            </a:r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Hike</a:t>
            </a: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%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48F95C-F8C9-C86E-BDC1-6F3840D25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10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E3A8FC-80C4-C9D5-0686-8E45514EB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030" y="1578212"/>
            <a:ext cx="5249570" cy="4608102"/>
          </a:xfrm>
          <a:prstGeom prst="rect">
            <a:avLst/>
          </a:prstGeom>
          <a:ln w="635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E82AAC-75BF-4C24-BBE5-000224D0FC13}"/>
              </a:ext>
            </a:extLst>
          </p:cNvPr>
          <p:cNvSpPr txBox="1"/>
          <p:nvPr/>
        </p:nvSpPr>
        <p:spPr>
          <a:xfrm>
            <a:off x="4591812" y="6356350"/>
            <a:ext cx="3008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Fig: Appraisal Rating vs CTC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2A81AB-CCDB-A58F-183A-CACF720C969E}"/>
              </a:ext>
            </a:extLst>
          </p:cNvPr>
          <p:cNvSpPr/>
          <p:nvPr/>
        </p:nvSpPr>
        <p:spPr>
          <a:xfrm>
            <a:off x="0" y="3003804"/>
            <a:ext cx="12192000" cy="8503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Applicants are evenly distributed across appraisal ratings, with Key Performers enjoying a 33% salary hike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23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06488-EB47-4842-1172-31C7F3418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99EC8E-C2B4-A848-0B62-82E3C360AC2E}"/>
              </a:ext>
            </a:extLst>
          </p:cNvPr>
          <p:cNvSpPr txBox="1"/>
          <p:nvPr/>
        </p:nvSpPr>
        <p:spPr>
          <a:xfrm>
            <a:off x="629639" y="740665"/>
            <a:ext cx="10937521" cy="92354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Data Insights : Education &amp; Experience on CTC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9A113-1134-E792-07E2-68D7F3B14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7E7F7C-71FA-74C8-F8A1-36935E549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007" y="1585555"/>
            <a:ext cx="8485442" cy="4320541"/>
          </a:xfrm>
          <a:prstGeom prst="rect">
            <a:avLst/>
          </a:prstGeom>
          <a:ln w="635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30F29B-2F1C-85B0-6DA6-E587CAA9DDAB}"/>
              </a:ext>
            </a:extLst>
          </p:cNvPr>
          <p:cNvSpPr txBox="1"/>
          <p:nvPr/>
        </p:nvSpPr>
        <p:spPr>
          <a:xfrm>
            <a:off x="4727448" y="6014082"/>
            <a:ext cx="3008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Fig: Education + Experience = CTC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209630-7754-1002-73C9-DED13A2BEB35}"/>
              </a:ext>
            </a:extLst>
          </p:cNvPr>
          <p:cNvSpPr/>
          <p:nvPr/>
        </p:nvSpPr>
        <p:spPr>
          <a:xfrm>
            <a:off x="0" y="3003804"/>
            <a:ext cx="12192000" cy="8503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More Knowledge + Relevant Experience = Higher pay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6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1418F-1A44-D144-5BA5-0AFAB1CB4A93}"/>
              </a:ext>
            </a:extLst>
          </p:cNvPr>
          <p:cNvSpPr txBox="1"/>
          <p:nvPr/>
        </p:nvSpPr>
        <p:spPr>
          <a:xfrm>
            <a:off x="384429" y="53161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Data to Decisions: Crafting the Perfect Model</a:t>
            </a:r>
            <a:endParaRPr lang="en-IN" sz="3600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D5562F-B49D-BE39-24B5-C0D1BF7389B8}"/>
              </a:ext>
            </a:extLst>
          </p:cNvPr>
          <p:cNvSpPr txBox="1"/>
          <p:nvPr/>
        </p:nvSpPr>
        <p:spPr>
          <a:xfrm>
            <a:off x="447796" y="2386584"/>
            <a:ext cx="49211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Linear Regression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statsmodel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Linear Regression (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skitlearn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Decision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Ensemble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Optimized Models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6F9763F-491D-971C-CFAF-A66C6AA8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12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804B51-83B2-C3E2-EB26-4F920F626FCD}"/>
              </a:ext>
            </a:extLst>
          </p:cNvPr>
          <p:cNvSpPr txBox="1"/>
          <p:nvPr/>
        </p:nvSpPr>
        <p:spPr>
          <a:xfrm>
            <a:off x="-51435" y="6350960"/>
            <a:ext cx="3483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Source: https://www.slideshare.net/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BEDC6-CCCC-38D7-FD11-AF7DD6456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161" y="2282574"/>
            <a:ext cx="5296639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9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9FF66E7-6ABC-CFF9-6C20-B511E2C5351A}"/>
              </a:ext>
            </a:extLst>
          </p:cNvPr>
          <p:cNvSpPr txBox="1"/>
          <p:nvPr/>
        </p:nvSpPr>
        <p:spPr>
          <a:xfrm>
            <a:off x="676131" y="595136"/>
            <a:ext cx="6291618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From Data to Decisions: Crafting the Perfect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7B057-54AB-2788-7262-E3895D4D401C}"/>
              </a:ext>
            </a:extLst>
          </p:cNvPr>
          <p:cNvSpPr txBox="1"/>
          <p:nvPr/>
        </p:nvSpPr>
        <p:spPr>
          <a:xfrm>
            <a:off x="676131" y="1857433"/>
            <a:ext cx="9903478" cy="287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Linear Regression Model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statsmodel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Initial baseline model to understand relationships.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University PG, PG Specialization, Current CTC and Total Experience removed due to multicollinearity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Poor generalization to test data (R² = 38%).</a:t>
            </a:r>
            <a:endParaRPr lang="en-US" sz="1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F057AA-35DE-B53C-4398-568560C72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460956"/>
              </p:ext>
            </p:extLst>
          </p:nvPr>
        </p:nvGraphicFramePr>
        <p:xfrm>
          <a:off x="1922272" y="4727448"/>
          <a:ext cx="8291574" cy="1188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81929">
                  <a:extLst>
                    <a:ext uri="{9D8B030D-6E8A-4147-A177-3AD203B41FA5}">
                      <a16:colId xmlns:a16="http://schemas.microsoft.com/office/drawing/2014/main" val="241648700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327721177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94701874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705609469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4725286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423911398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R-Squared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61446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84.9%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89.8%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305928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39.3%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54.9%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184267"/>
                  </a:ext>
                </a:extLst>
              </a:tr>
            </a:tbl>
          </a:graphicData>
        </a:graphic>
      </p:graphicFrame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2C79B5A-FEE6-AB11-F35F-A6B1170D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13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51ABA7-DB49-D296-6A29-78D271A1F861}"/>
              </a:ext>
            </a:extLst>
          </p:cNvPr>
          <p:cNvSpPr txBox="1"/>
          <p:nvPr/>
        </p:nvSpPr>
        <p:spPr>
          <a:xfrm>
            <a:off x="4325112" y="5997759"/>
            <a:ext cx="408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Table: Linear Regression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436513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B0611-E697-6DE2-A8AC-9AD2671D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EF3DB4-C743-D8BB-B4BC-90D2316AD2F5}"/>
              </a:ext>
            </a:extLst>
          </p:cNvPr>
          <p:cNvSpPr txBox="1"/>
          <p:nvPr/>
        </p:nvSpPr>
        <p:spPr>
          <a:xfrm>
            <a:off x="676131" y="595136"/>
            <a:ext cx="6291618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From Data to Decisions: Crafting the Perfect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AD0D6-84AE-63AC-E5BB-8C271268C53D}"/>
              </a:ext>
            </a:extLst>
          </p:cNvPr>
          <p:cNvSpPr txBox="1"/>
          <p:nvPr/>
        </p:nvSpPr>
        <p:spPr>
          <a:xfrm>
            <a:off x="676131" y="1857433"/>
            <a:ext cx="9903478" cy="287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Linear Regression Model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skitlearn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Improved accuracy with better handling of training/test splits.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R² = 97.9% with consistent error metrics.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CCE3B3-04C2-F017-A82A-63E2E7AEB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821514"/>
              </p:ext>
            </p:extLst>
          </p:nvPr>
        </p:nvGraphicFramePr>
        <p:xfrm>
          <a:off x="1831847" y="4380401"/>
          <a:ext cx="8291574" cy="1188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81929">
                  <a:extLst>
                    <a:ext uri="{9D8B030D-6E8A-4147-A177-3AD203B41FA5}">
                      <a16:colId xmlns:a16="http://schemas.microsoft.com/office/drawing/2014/main" val="241648700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327721177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94701874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705609469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4725286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423911398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R-Squared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61446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Train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97.9</a:t>
                      </a:r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0.0224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0.00093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49.9%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305928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97.8%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0.0228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0.00098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</a:rPr>
                        <a:t>12.6%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184267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47597-A0E2-A0B7-9A58-7C05907C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C5F65-FD2F-5674-2CCF-B060E3202A88}"/>
              </a:ext>
            </a:extLst>
          </p:cNvPr>
          <p:cNvSpPr txBox="1"/>
          <p:nvPr/>
        </p:nvSpPr>
        <p:spPr>
          <a:xfrm>
            <a:off x="4053840" y="5824236"/>
            <a:ext cx="408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Table: Linear Regression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3788313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8F652-598D-CF9D-51F5-C9F738666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61DF278-560D-1429-0ADD-0468F68245F0}"/>
              </a:ext>
            </a:extLst>
          </p:cNvPr>
          <p:cNvSpPr txBox="1"/>
          <p:nvPr/>
        </p:nvSpPr>
        <p:spPr>
          <a:xfrm>
            <a:off x="676131" y="595136"/>
            <a:ext cx="6291618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From Data to Decisions: Crafting the Perfect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C28F1-30AE-BBC7-42C5-1534FA9B5DBD}"/>
              </a:ext>
            </a:extLst>
          </p:cNvPr>
          <p:cNvSpPr txBox="1"/>
          <p:nvPr/>
        </p:nvSpPr>
        <p:spPr>
          <a:xfrm>
            <a:off x="676131" y="1857433"/>
            <a:ext cx="9903478" cy="2687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Decision Tree Regressor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Excellent Performance in both training and test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Extremely low errors indicate high accuracy in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Overfits the train data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2C8C6D-F27A-A4CC-B929-E57A5D96A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59399"/>
              </p:ext>
            </p:extLst>
          </p:nvPr>
        </p:nvGraphicFramePr>
        <p:xfrm>
          <a:off x="1950213" y="4727448"/>
          <a:ext cx="8291574" cy="1188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81929">
                  <a:extLst>
                    <a:ext uri="{9D8B030D-6E8A-4147-A177-3AD203B41FA5}">
                      <a16:colId xmlns:a16="http://schemas.microsoft.com/office/drawing/2014/main" val="241648700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327721177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94701874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705609469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4725286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423911398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R-Squared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61446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3059289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5.7e-05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42.4%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184267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5F2B53-6764-CC2B-420E-C6929F76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43870E-0BF7-8331-2B1F-72AEF1142AA1}"/>
              </a:ext>
            </a:extLst>
          </p:cNvPr>
          <p:cNvSpPr txBox="1"/>
          <p:nvPr/>
        </p:nvSpPr>
        <p:spPr>
          <a:xfrm>
            <a:off x="4325112" y="5997759"/>
            <a:ext cx="408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Table: Decision Tree Performance</a:t>
            </a:r>
          </a:p>
        </p:txBody>
      </p:sp>
    </p:spTree>
    <p:extLst>
      <p:ext uri="{BB962C8B-B14F-4D97-AF65-F5344CB8AC3E}">
        <p14:creationId xmlns:p14="http://schemas.microsoft.com/office/powerpoint/2010/main" val="191529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07974E-8610-E274-DB8B-646F68C4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17F36E-A52D-5C42-7805-EB9DE803AA73}"/>
              </a:ext>
            </a:extLst>
          </p:cNvPr>
          <p:cNvSpPr txBox="1"/>
          <p:nvPr/>
        </p:nvSpPr>
        <p:spPr>
          <a:xfrm>
            <a:off x="676131" y="595136"/>
            <a:ext cx="6291618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From Data to Decisions: Crafting the Perfect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039E5-87BF-0AB2-16D2-669B1B30B5A9}"/>
              </a:ext>
            </a:extLst>
          </p:cNvPr>
          <p:cNvSpPr txBox="1"/>
          <p:nvPr/>
        </p:nvSpPr>
        <p:spPr>
          <a:xfrm>
            <a:off x="676131" y="1857433"/>
            <a:ext cx="9903478" cy="287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Ensemble Model – Random Forest Regression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accurate predictions: Explains almost all variance with minimal errors across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Generalizes well: Slightly higher test errors confirm reliable performance on unseen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Potential overfitting indication: Similar train and test results suggest the need for further validation.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20574F-F93D-431D-0884-0ABC56EB9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497228"/>
              </p:ext>
            </p:extLst>
          </p:nvPr>
        </p:nvGraphicFramePr>
        <p:xfrm>
          <a:off x="1853184" y="4727448"/>
          <a:ext cx="8291574" cy="1188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81929">
                  <a:extLst>
                    <a:ext uri="{9D8B030D-6E8A-4147-A177-3AD203B41FA5}">
                      <a16:colId xmlns:a16="http://schemas.microsoft.com/office/drawing/2014/main" val="214131213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2509503874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89677652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818330092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62157176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94958952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R-Squared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11208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83645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2.18%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08437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DD1E8-C45F-CFCD-6934-6054ABA1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3FFF8-0388-84E8-2479-4560A6222B48}"/>
              </a:ext>
            </a:extLst>
          </p:cNvPr>
          <p:cNvSpPr txBox="1"/>
          <p:nvPr/>
        </p:nvSpPr>
        <p:spPr>
          <a:xfrm>
            <a:off x="4233672" y="5985865"/>
            <a:ext cx="408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Table: Random Forest Performance</a:t>
            </a:r>
          </a:p>
        </p:txBody>
      </p:sp>
    </p:spTree>
    <p:extLst>
      <p:ext uri="{BB962C8B-B14F-4D97-AF65-F5344CB8AC3E}">
        <p14:creationId xmlns:p14="http://schemas.microsoft.com/office/powerpoint/2010/main" val="64868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C5680-B1B6-E971-EF7C-8D571FE1F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3499540-28D2-17D9-179B-8EFDD29890D7}"/>
              </a:ext>
            </a:extLst>
          </p:cNvPr>
          <p:cNvSpPr txBox="1"/>
          <p:nvPr/>
        </p:nvSpPr>
        <p:spPr>
          <a:xfrm>
            <a:off x="676131" y="595136"/>
            <a:ext cx="6291618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From Data to Decisions: Crafting the Perfect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BC791-871A-4875-B4B1-1CF77C7091FC}"/>
              </a:ext>
            </a:extLst>
          </p:cNvPr>
          <p:cNvSpPr txBox="1"/>
          <p:nvPr/>
        </p:nvSpPr>
        <p:spPr>
          <a:xfrm>
            <a:off x="676131" y="1857433"/>
            <a:ext cx="9903478" cy="27511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Decision Tree – Optimized Model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Parameters: Tuned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max_depth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min_samples_split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min_samples_leaf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Extensive Validation with 3-fold cross-validation, evaluating 432 fits to ensure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Prediction Error % (MAPE) is too high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609870-C47C-1E42-8B62-A8CCAA3C3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873565-A53B-AE04-5D22-9F2A7D825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671922"/>
              </p:ext>
            </p:extLst>
          </p:nvPr>
        </p:nvGraphicFramePr>
        <p:xfrm>
          <a:off x="2045384" y="4608576"/>
          <a:ext cx="8291574" cy="1188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81929">
                  <a:extLst>
                    <a:ext uri="{9D8B030D-6E8A-4147-A177-3AD203B41FA5}">
                      <a16:colId xmlns:a16="http://schemas.microsoft.com/office/drawing/2014/main" val="214131213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2509503874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89677652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818330092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62157176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94958952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R-Squared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11208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83645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51.2%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084371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21F3B5-57CC-0B1F-DEE5-569D86D3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499F8-EDA7-12CD-84F4-A25BAA26CCDB}"/>
              </a:ext>
            </a:extLst>
          </p:cNvPr>
          <p:cNvSpPr txBox="1"/>
          <p:nvPr/>
        </p:nvSpPr>
        <p:spPr>
          <a:xfrm>
            <a:off x="4149011" y="5985865"/>
            <a:ext cx="408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Table: Optimized Decision Tree Performance</a:t>
            </a:r>
          </a:p>
        </p:txBody>
      </p:sp>
    </p:spTree>
    <p:extLst>
      <p:ext uri="{BB962C8B-B14F-4D97-AF65-F5344CB8AC3E}">
        <p14:creationId xmlns:p14="http://schemas.microsoft.com/office/powerpoint/2010/main" val="97993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FFBE5-F3A9-20EA-C19E-FD101542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A5ED16A-CD46-8045-58C5-116C8CC6CB8D}"/>
              </a:ext>
            </a:extLst>
          </p:cNvPr>
          <p:cNvSpPr txBox="1"/>
          <p:nvPr/>
        </p:nvSpPr>
        <p:spPr>
          <a:xfrm>
            <a:off x="676131" y="595136"/>
            <a:ext cx="6291618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From Data to Decisions: Crafting the Perfect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8CCFE0-21FE-0BD4-E0C7-F6377D68AC88}"/>
              </a:ext>
            </a:extLst>
          </p:cNvPr>
          <p:cNvSpPr txBox="1"/>
          <p:nvPr/>
        </p:nvSpPr>
        <p:spPr>
          <a:xfrm>
            <a:off x="676131" y="1857433"/>
            <a:ext cx="9903478" cy="287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 Forest – Optimized Model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Optimized Parameters: Tuned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n_estimators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max_depth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min_samples_split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min_samples_leaf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     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max_features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Extensive Validation with 5-fold cross-validation, evaluating 1620 fits to ensure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Very Low Prediction Error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F06995-8313-79FC-47D7-363FD99FD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6C4E7F-3612-96F8-1DB5-8067A4A72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480347"/>
              </p:ext>
            </p:extLst>
          </p:nvPr>
        </p:nvGraphicFramePr>
        <p:xfrm>
          <a:off x="2105025" y="4823131"/>
          <a:ext cx="8291574" cy="1188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81929">
                  <a:extLst>
                    <a:ext uri="{9D8B030D-6E8A-4147-A177-3AD203B41FA5}">
                      <a16:colId xmlns:a16="http://schemas.microsoft.com/office/drawing/2014/main" val="2141312135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2509503874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89677652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818330092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621571766"/>
                    </a:ext>
                  </a:extLst>
                </a:gridCol>
                <a:gridCol w="1381929">
                  <a:extLst>
                    <a:ext uri="{9D8B030D-6E8A-4147-A177-3AD203B41FA5}">
                      <a16:colId xmlns:a16="http://schemas.microsoft.com/office/drawing/2014/main" val="194958952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Data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R-Squared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011208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6.3e-06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14.46%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883645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3.6e-05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508437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984D9-745C-DEF0-D564-F516FC8E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E53A8-055B-EB23-25F5-9E5948A68522}"/>
              </a:ext>
            </a:extLst>
          </p:cNvPr>
          <p:cNvSpPr txBox="1"/>
          <p:nvPr/>
        </p:nvSpPr>
        <p:spPr>
          <a:xfrm>
            <a:off x="4208652" y="6124364"/>
            <a:ext cx="408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Table: Optimized Random Forest Performance</a:t>
            </a:r>
          </a:p>
        </p:txBody>
      </p:sp>
    </p:spTree>
    <p:extLst>
      <p:ext uri="{BB962C8B-B14F-4D97-AF65-F5344CB8AC3E}">
        <p14:creationId xmlns:p14="http://schemas.microsoft.com/office/powerpoint/2010/main" val="317104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51918A-56BD-5DFC-0040-F66991B019AB}"/>
              </a:ext>
            </a:extLst>
          </p:cNvPr>
          <p:cNvSpPr/>
          <p:nvPr/>
        </p:nvSpPr>
        <p:spPr>
          <a:xfrm>
            <a:off x="580008" y="3035808"/>
            <a:ext cx="11197464" cy="4572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7B057-54AB-2788-7262-E3895D4D401C}"/>
              </a:ext>
            </a:extLst>
          </p:cNvPr>
          <p:cNvSpPr txBox="1"/>
          <p:nvPr/>
        </p:nvSpPr>
        <p:spPr>
          <a:xfrm>
            <a:off x="580008" y="659357"/>
            <a:ext cx="6561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 out the Best Fit Model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653167-4CBE-F2B2-D276-9296C80580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473505"/>
              </p:ext>
            </p:extLst>
          </p:nvPr>
        </p:nvGraphicFramePr>
        <p:xfrm>
          <a:off x="580008" y="2534158"/>
          <a:ext cx="11196000" cy="30643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77392">
                  <a:extLst>
                    <a:ext uri="{9D8B030D-6E8A-4147-A177-3AD203B41FA5}">
                      <a16:colId xmlns:a16="http://schemas.microsoft.com/office/drawing/2014/main" val="20787731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61855229"/>
                    </a:ext>
                  </a:extLst>
                </a:gridCol>
                <a:gridCol w="900768">
                  <a:extLst>
                    <a:ext uri="{9D8B030D-6E8A-4147-A177-3AD203B41FA5}">
                      <a16:colId xmlns:a16="http://schemas.microsoft.com/office/drawing/2014/main" val="1155550747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4225602758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326938572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16846865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64269164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605878233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162584964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657243077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R2 – Train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R2- 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RMSE - Train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RMSE-Test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MAPE-Train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MAPE - 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Light Weight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Overfit / Underfit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Self-Explanatory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631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 Regression (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statsmodel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Underfit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966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 Regression (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skitlearn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Underfit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243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Tree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0%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Overfit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7882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190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Tree- Optimized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0.0071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824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Forest - Optimized</a:t>
                      </a:r>
                    </a:p>
                    <a:p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Balanced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37897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01E084-1C17-3841-EB1A-1E2D577C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9CBC2-3E54-EB85-F632-12A9AE98E2A1}"/>
              </a:ext>
            </a:extLst>
          </p:cNvPr>
          <p:cNvSpPr txBox="1"/>
          <p:nvPr/>
        </p:nvSpPr>
        <p:spPr>
          <a:xfrm>
            <a:off x="3867912" y="5700414"/>
            <a:ext cx="408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Table: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136033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ook cover with a microscope&#10;&#10;Description automatically generated">
            <a:extLst>
              <a:ext uri="{FF2B5EF4-FFF2-40B4-BE49-F238E27FC236}">
                <a16:creationId xmlns:a16="http://schemas.microsoft.com/office/drawing/2014/main" id="{27EAA4CC-F4B5-DAF0-9727-3E0785FA4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74" r="9299"/>
          <a:stretch/>
        </p:blipFill>
        <p:spPr>
          <a:xfrm>
            <a:off x="6467993" y="10"/>
            <a:ext cx="57424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7B057-54AB-2788-7262-E3895D4D401C}"/>
              </a:ext>
            </a:extLst>
          </p:cNvPr>
          <p:cNvSpPr txBox="1"/>
          <p:nvPr/>
        </p:nvSpPr>
        <p:spPr>
          <a:xfrm>
            <a:off x="477981" y="1122363"/>
            <a:ext cx="4023360" cy="56483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10FA37-6C35-AEED-3450-F4C4AAA5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20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3D5467-6D1B-D805-FB67-7D83A8E188BE}"/>
              </a:ext>
            </a:extLst>
          </p:cNvPr>
          <p:cNvSpPr txBox="1"/>
          <p:nvPr/>
        </p:nvSpPr>
        <p:spPr>
          <a:xfrm>
            <a:off x="685800" y="1993392"/>
            <a:ext cx="50382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Total experience - seniority, Current CTC strongly influence current salaries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Advanced education, particularly Doctorates, leads to higher pay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High performers and employees with balanced career stability (2–5 companies) earn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Industry, location preferences, and publications have minimal impact on salary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Random Forest Model: Achieved R² = 99.9%, ensuring precise and reliable salary predictions</a:t>
            </a:r>
            <a:endParaRPr lang="en-IN" dirty="0">
              <a:solidFill>
                <a:schemeClr val="accent4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765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C389-62EC-5EC9-F797-7FF23AFB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277C42-15FB-3BA6-EE3F-466FE6F9391C}"/>
              </a:ext>
            </a:extLst>
          </p:cNvPr>
          <p:cNvSpPr txBox="1"/>
          <p:nvPr/>
        </p:nvSpPr>
        <p:spPr>
          <a:xfrm>
            <a:off x="666737" y="746439"/>
            <a:ext cx="629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Recommendation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D8DCDC-6593-D3BE-10E3-B4221FE1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76368-5847-94B1-92B0-2A649119944B}"/>
              </a:ext>
            </a:extLst>
          </p:cNvPr>
          <p:cNvSpPr txBox="1"/>
          <p:nvPr/>
        </p:nvSpPr>
        <p:spPr>
          <a:xfrm>
            <a:off x="1243584" y="1847088"/>
            <a:ext cx="953719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Adopt predictive models for fair and unbiased salary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Benchmark salaries to address pay gaps and ensure equity.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Focus on key drivers: experience, education, and performance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Offer competitive salaries to enhance retention and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Promote upskilling through certifications and mentorship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accent4">
                  <a:lumMod val="20000"/>
                  <a:lumOff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    Align budgets with predictive insights for effective workforce planning. </a:t>
            </a:r>
          </a:p>
        </p:txBody>
      </p:sp>
    </p:spTree>
    <p:extLst>
      <p:ext uri="{BB962C8B-B14F-4D97-AF65-F5344CB8AC3E}">
        <p14:creationId xmlns:p14="http://schemas.microsoft.com/office/powerpoint/2010/main" val="423246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5E8B-4FE9-8C4F-A076-52492DE37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2577"/>
            <a:ext cx="10515600" cy="152704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8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D2598-BA17-3142-041A-038EC771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F7EC7-A133-4997-9208-39AE0FFB8536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7B341-0F06-AC50-1031-13C0A39DDF2F}"/>
              </a:ext>
            </a:extLst>
          </p:cNvPr>
          <p:cNvSpPr txBox="1"/>
          <p:nvPr/>
        </p:nvSpPr>
        <p:spPr>
          <a:xfrm>
            <a:off x="2072640" y="5983866"/>
            <a:ext cx="7626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 : Great Learning, </a:t>
            </a:r>
            <a:r>
              <a:rPr lang="en-IN" sz="20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Codebasics</a:t>
            </a:r>
            <a:r>
              <a:rPr lang="en-IN" sz="2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ChatGPT</a:t>
            </a:r>
          </a:p>
        </p:txBody>
      </p:sp>
    </p:spTree>
    <p:extLst>
      <p:ext uri="{BB962C8B-B14F-4D97-AF65-F5344CB8AC3E}">
        <p14:creationId xmlns:p14="http://schemas.microsoft.com/office/powerpoint/2010/main" val="1533573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1564f6-0349-4cc5-b00d-7cf3ba42f824">
      <Terms xmlns="http://schemas.microsoft.com/office/infopath/2007/PartnerControls"/>
    </lcf76f155ced4ddcb4097134ff3c332f>
    <TaxCatchAll xmlns="46297aa2-77d1-4586-9726-07d56a535ee7" xsi:nil="true"/>
    <MediaLengthInSeconds xmlns="631564f6-0349-4cc5-b00d-7cf3ba42f824" xsi:nil="true"/>
    <SharedWithUsers xmlns="46297aa2-77d1-4586-9726-07d56a535ee7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6C0266E115364AA9B96DE5BECF7DB6" ma:contentTypeVersion="14" ma:contentTypeDescription="Create a new document." ma:contentTypeScope="" ma:versionID="c921848065db5a49d1de2391ec81580e">
  <xsd:schema xmlns:xsd="http://www.w3.org/2001/XMLSchema" xmlns:xs="http://www.w3.org/2001/XMLSchema" xmlns:p="http://schemas.microsoft.com/office/2006/metadata/properties" xmlns:ns2="631564f6-0349-4cc5-b00d-7cf3ba42f824" xmlns:ns3="46297aa2-77d1-4586-9726-07d56a535ee7" targetNamespace="http://schemas.microsoft.com/office/2006/metadata/properties" ma:root="true" ma:fieldsID="ff9dd1b7eff9d7fccc1b7fb333026bb0" ns2:_="" ns3:_="">
    <xsd:import namespace="631564f6-0349-4cc5-b00d-7cf3ba42f824"/>
    <xsd:import namespace="46297aa2-77d1-4586-9726-07d56a535e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564f6-0349-4cc5-b00d-7cf3ba42f8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fd9a293-139f-4208-837f-2845fada89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297aa2-77d1-4586-9726-07d56a535ee7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83f7f984-84d1-4adc-8904-137f404b280a}" ma:internalName="TaxCatchAll" ma:showField="CatchAllData" ma:web="46297aa2-77d1-4586-9726-07d56a535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74E4BB-06EA-4638-BA4F-ED8CA56EE840}">
  <ds:schemaRefs>
    <ds:schemaRef ds:uri="46297aa2-77d1-4586-9726-07d56a535ee7"/>
    <ds:schemaRef ds:uri="631564f6-0349-4cc5-b00d-7cf3ba42f824"/>
    <ds:schemaRef ds:uri="b8a4b99c-9b0e-4f59-aa2a-8b6a3de16c94"/>
    <ds:schemaRef ds:uri="eb6d4c3c-27e6-40f7-a5be-c2d429b5cb83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6440EC8-6D72-4F3E-8EF0-FE15E00A3D98}">
  <ds:schemaRefs>
    <ds:schemaRef ds:uri="46297aa2-77d1-4586-9726-07d56a535ee7"/>
    <ds:schemaRef ds:uri="631564f6-0349-4cc5-b00d-7cf3ba42f8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91895AF-E1B2-4DA1-BE97-C45706F2E4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13279</TotalTime>
  <Words>1175</Words>
  <Application>Microsoft Office PowerPoint</Application>
  <PresentationFormat>Widescreen</PresentationFormat>
  <Paragraphs>367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2013 - 2022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Data Insights : Location Preference vs CTC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Dhaval Patel</dc:creator>
  <cp:lastModifiedBy>Soumyajit Langal</cp:lastModifiedBy>
  <cp:revision>9</cp:revision>
  <dcterms:created xsi:type="dcterms:W3CDTF">2022-10-13T22:33:18Z</dcterms:created>
  <dcterms:modified xsi:type="dcterms:W3CDTF">2025-01-13T08:04:13Z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0x010100686C0266E115364AA9B96DE5BECF7DB6</vt:lpwstr>
  </property>
  <property fmtid="{D5CDD505-2E9C-101B-9397-08002B2CF9AE}" pid="3" name="Order">
    <vt:r8>300</vt:r8>
  </property>
  <property fmtid="{D5CDD505-2E9C-101B-9397-08002B2CF9AE}" pid="4" name="MediaServiceImageTags">
    <vt:lpwstr/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